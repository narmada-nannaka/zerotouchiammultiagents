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84F3"/>
    <a:srgbClr val="E94335"/>
    <a:srgbClr val="FBFDFF"/>
    <a:srgbClr val="34A7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E51896-64E1-41DE-AE98-B30039D2DE66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51DAD-77AA-48F9-981F-ED22B362C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419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51DAD-77AA-48F9-981F-ED22B362CDF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9611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E2AC-1973-0808-B8E7-96A8C4D7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0A69D-1F0B-B15C-5FBD-74CCFA92C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975C7-1DF3-3D88-6048-DCE71407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C5D9F-BF18-69D9-2AE2-8EE60377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8887F-1092-A38C-389D-3B9E69A7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6273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97B7-6C73-B5B5-34C1-74C67A47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C67FF-EE34-E267-F001-BCE20442F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89F0-CBC5-C18B-FCE2-788A54DF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17957-4227-9849-3DDE-4A22981F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794E6-5945-D794-0163-AD0F6B9F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34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BC3B-07AE-FC2E-A6EB-09F1F68A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4D658-815F-A62C-93D4-3A81BF73C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125D9-785E-720A-BB77-B9A7CA72A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34FB4-F628-7BE0-0DB9-D5C3A88A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664C1-4F83-A51E-D6B1-69FFA1E0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8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A970-2E79-5B2A-4C61-86CA3E8B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60B65-5486-84DD-D54F-734EE9D25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3CE57-CD5E-2558-E105-E080968E9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5910F-9217-3B2D-2A0E-D756CAED6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D405A-059E-1BB4-4B4D-1D0AADE5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03398-7F25-7526-ADAF-3F78CA2E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98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4ABB-6C30-51F2-666B-4F812EE40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A164F-AEB8-8CD2-6B27-8DC21B784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DA019-549B-6AFE-FD06-2BE1B5A2A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11B0C-4E5B-0766-8F62-AEA521948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585543-32F3-8600-6946-7DF0FB4E3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D2FA4-46BD-4D3A-58C1-CB087279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23E0E-9D55-0CC4-4075-DEBB899F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7D5DA3-BCF0-553B-22EA-86C654638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36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5E38-4F2C-97C6-795C-70BE4E01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F670E7-1D01-366F-84C4-33255644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BE778-9237-DDC4-A75C-85AED8394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7D43B-08C0-FBCF-BC7C-39815B2A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203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530D5-C871-D66C-1892-4E268C77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8B9BC-4B32-A4A0-2170-1B8D77DD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528BF-767A-546D-9A55-3C46FFB7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54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6512-B86F-8EDD-6AB6-3CCBFE2A5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1853D-A819-BE9F-B51B-A730E2F6E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A5605-4DC9-7AAE-4874-E9C3F6A14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1C477-2A77-0498-80C2-B57A1895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6F222-075C-0681-9244-2448FC6A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45F6F-914B-CA46-7950-BC82B0ECC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4804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FEACF-6508-E8FD-F663-F5FC2E9A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11150-5B61-027F-87FD-4C50F555C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A9B3C-0E0B-9DBA-0214-32F9FD5EE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96392-FA16-EDF7-FDAE-EDB950E0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E52AF-6C69-6DA5-08F4-B3FBC9DC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43C17-C916-6020-6D68-6BEB2CAD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7943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557A-0581-F727-1D73-034FE0D7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A67F5-6A82-3094-15DB-55F8D452E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5AD6C-AA2A-7570-61BC-90DD3E4E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4249F-482F-57B7-4013-3A164CB3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2623-0596-7822-2530-8EFC7CAC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5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EA5FA-C733-4DF5-2CC0-DCD3A6EFD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BE0AB-1DC0-3CE5-F0DA-0DC7A3CC5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9AFF2-D6E9-79B8-D6D6-69C0D788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1AB0E-B90A-6C68-4C01-AC3EA0FE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37E93-1198-5CDA-BAAB-228CA486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94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1A028E-731B-B2C1-B3C2-06AA13AB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1B0ED-ADAD-14AF-6AE7-ABBB21BAE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9A87F-02A3-60BD-CE96-13E3A6859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A0F28-9BDB-44A9-A15D-2A0CD551D737}" type="datetimeFigureOut">
              <a:rPr lang="en-AU" smtClean="0"/>
              <a:t>28/11/2025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DA111-F320-A350-F130-28561838A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38886-8095-194D-BB83-29DFCA23C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CB64C-79AB-47DD-A8F8-EC115C453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759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5" Type="http://schemas.openxmlformats.org/officeDocument/2006/relationships/image" Target="../media/image24.png"/><Relationship Id="rId10" Type="http://schemas.openxmlformats.org/officeDocument/2006/relationships/image" Target="../media/image10.svg"/><Relationship Id="rId19" Type="http://schemas.openxmlformats.org/officeDocument/2006/relationships/image" Target="../media/image28.png"/><Relationship Id="rId4" Type="http://schemas.openxmlformats.org/officeDocument/2006/relationships/image" Target="../media/image15.svg"/><Relationship Id="rId9" Type="http://schemas.openxmlformats.org/officeDocument/2006/relationships/image" Target="../media/image9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DCF1-DF37-420E-83B6-6C71A7AB3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144" y="1212248"/>
            <a:ext cx="9144000" cy="646331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AU" sz="4900" dirty="0"/>
              <a:t>Accenture</a:t>
            </a:r>
            <a:r>
              <a:rPr lang="en-AU" sz="4800" dirty="0"/>
              <a:t> | Australia &amp; New Zealand</a:t>
            </a:r>
            <a:br>
              <a:rPr lang="en-AU" sz="4800" dirty="0"/>
            </a:br>
            <a:br>
              <a:rPr lang="en-AU" sz="4800" dirty="0"/>
            </a:br>
            <a:br>
              <a:rPr lang="en-AU" sz="3100" dirty="0"/>
            </a:br>
            <a:br>
              <a:rPr lang="en-AU" sz="3100" dirty="0"/>
            </a:br>
            <a:endParaRPr lang="en-AU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DD278-03B5-4824-BE99-962EEDF83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383" y="5445829"/>
            <a:ext cx="5160264" cy="1139897"/>
          </a:xfrm>
        </p:spPr>
        <p:txBody>
          <a:bodyPr anchor="b"/>
          <a:lstStyle/>
          <a:p>
            <a:pPr algn="l"/>
            <a:r>
              <a:rPr lang="en-AU" dirty="0"/>
              <a:t>Google Agent Build Challenge</a:t>
            </a:r>
            <a:endParaRPr lang="en-AU" dirty="0">
              <a:solidFill>
                <a:srgbClr val="34A753"/>
              </a:solidFill>
            </a:endParaRPr>
          </a:p>
          <a:p>
            <a:pPr algn="l"/>
            <a:r>
              <a:rPr lang="en-AU" dirty="0">
                <a:solidFill>
                  <a:srgbClr val="34A753"/>
                </a:solidFill>
              </a:rPr>
              <a:t>November 28, 2025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BDB6B62-722F-0576-6F35-CF5732B4A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0728"/>
            <a:ext cx="12192000" cy="48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85E20CB-BCB5-74E8-8D2B-9EC4C92CA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799" y="3963061"/>
            <a:ext cx="5703239" cy="2763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Shield Tick with solid fill">
            <a:extLst>
              <a:ext uri="{FF2B5EF4-FFF2-40B4-BE49-F238E27FC236}">
                <a16:creationId xmlns:a16="http://schemas.microsoft.com/office/drawing/2014/main" id="{07D0682A-71A9-19E9-3C92-C00CC68E12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4325" y="1975110"/>
            <a:ext cx="2387600" cy="2387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D8A708-8ED6-2826-97F2-A137750E4887}"/>
              </a:ext>
            </a:extLst>
          </p:cNvPr>
          <p:cNvSpPr txBox="1"/>
          <p:nvPr/>
        </p:nvSpPr>
        <p:spPr>
          <a:xfrm>
            <a:off x="2822840" y="2533429"/>
            <a:ext cx="6546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b="1" dirty="0">
                <a:solidFill>
                  <a:srgbClr val="FF0000"/>
                </a:solidFill>
              </a:rPr>
              <a:t>Zero-Touch IAM Security</a:t>
            </a:r>
            <a:endParaRPr lang="en-AU" sz="4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239549-55DA-AEDE-A466-13B0319D1E9F}"/>
              </a:ext>
            </a:extLst>
          </p:cNvPr>
          <p:cNvSpPr txBox="1"/>
          <p:nvPr/>
        </p:nvSpPr>
        <p:spPr>
          <a:xfrm>
            <a:off x="3936335" y="3296923"/>
            <a:ext cx="4319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AI-Powered Complex Process Automation</a:t>
            </a:r>
          </a:p>
          <a:p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Graphic 11" descr="Lightning bolt with solid fill">
            <a:extLst>
              <a:ext uri="{FF2B5EF4-FFF2-40B4-BE49-F238E27FC236}">
                <a16:creationId xmlns:a16="http://schemas.microsoft.com/office/drawing/2014/main" id="{B5833AC8-BFC5-F11D-9A86-7C616C18A1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33964" y="3747257"/>
            <a:ext cx="457200" cy="457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7E6A18-BD3A-26C4-1C43-1FC15445630D}"/>
              </a:ext>
            </a:extLst>
          </p:cNvPr>
          <p:cNvSpPr txBox="1"/>
          <p:nvPr/>
        </p:nvSpPr>
        <p:spPr>
          <a:xfrm>
            <a:off x="3691164" y="3716379"/>
            <a:ext cx="4975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Built with Google ADK &amp; Agent-to-Agent Protocol</a:t>
            </a:r>
          </a:p>
          <a:p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563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28D17-0490-5211-4A78-027960A03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552954"/>
            <a:ext cx="10515600" cy="676756"/>
          </a:xfrm>
        </p:spPr>
        <p:txBody>
          <a:bodyPr anchor="t">
            <a:normAutofit fontScale="90000"/>
          </a:bodyPr>
          <a:lstStyle/>
          <a:p>
            <a:r>
              <a:rPr lang="en-AU" dirty="0"/>
              <a:t>The IAM Provisioning Problem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C87972E-5C02-3E1B-600D-1AF5427AE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738"/>
            <a:ext cx="12192000" cy="1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280135-A30C-B885-F791-BD89D20AC76F}"/>
              </a:ext>
            </a:extLst>
          </p:cNvPr>
          <p:cNvSpPr/>
          <p:nvPr/>
        </p:nvSpPr>
        <p:spPr>
          <a:xfrm>
            <a:off x="620110" y="1576552"/>
            <a:ext cx="10951780" cy="676756"/>
          </a:xfrm>
          <a:prstGeom prst="round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1C82FA-4166-113B-30CD-E9767709B419}"/>
              </a:ext>
            </a:extLst>
          </p:cNvPr>
          <p:cNvSpPr/>
          <p:nvPr/>
        </p:nvSpPr>
        <p:spPr>
          <a:xfrm>
            <a:off x="620110" y="2635554"/>
            <a:ext cx="10951780" cy="676756"/>
          </a:xfrm>
          <a:prstGeom prst="round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4E0A67-7E7F-9F8D-2318-2E1C3CE3573E}"/>
              </a:ext>
            </a:extLst>
          </p:cNvPr>
          <p:cNvSpPr/>
          <p:nvPr/>
        </p:nvSpPr>
        <p:spPr>
          <a:xfrm>
            <a:off x="620110" y="3818475"/>
            <a:ext cx="10951780" cy="676756"/>
          </a:xfrm>
          <a:prstGeom prst="round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Graphic 8" descr="Hourglass 60% with solid fill">
            <a:extLst>
              <a:ext uri="{FF2B5EF4-FFF2-40B4-BE49-F238E27FC236}">
                <a16:creationId xmlns:a16="http://schemas.microsoft.com/office/drawing/2014/main" id="{3A5CA9D9-A34B-E0A2-7213-D01F327D7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00" y="1629152"/>
            <a:ext cx="571556" cy="571556"/>
          </a:xfrm>
          <a:prstGeom prst="rect">
            <a:avLst/>
          </a:prstGeom>
        </p:spPr>
      </p:pic>
      <p:pic>
        <p:nvPicPr>
          <p:cNvPr id="11" name="Graphic 10" descr="Shield with solid fill">
            <a:extLst>
              <a:ext uri="{FF2B5EF4-FFF2-40B4-BE49-F238E27FC236}">
                <a16:creationId xmlns:a16="http://schemas.microsoft.com/office/drawing/2014/main" id="{579EC43A-D24B-410B-16F9-55633C81AA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256" y="3903407"/>
            <a:ext cx="451900" cy="451900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962F04C0-4EF0-D992-2BFC-79824B5C19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973" y="2719708"/>
            <a:ext cx="504183" cy="5041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44E834-A10E-EF53-0DEB-1F20DB693469}"/>
              </a:ext>
            </a:extLst>
          </p:cNvPr>
          <p:cNvSpPr txBox="1"/>
          <p:nvPr/>
        </p:nvSpPr>
        <p:spPr>
          <a:xfrm>
            <a:off x="1368646" y="3926020"/>
            <a:ext cx="5922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Privileged operations expose attack surface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BE1D4-9C40-5BB1-B3DE-401D2D9A8600}"/>
              </a:ext>
            </a:extLst>
          </p:cNvPr>
          <p:cNvSpPr txBox="1"/>
          <p:nvPr/>
        </p:nvSpPr>
        <p:spPr>
          <a:xfrm>
            <a:off x="1368646" y="2740966"/>
            <a:ext cx="4665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Policies scattered across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0F351-7E6E-A960-B80A-9A04CA219788}"/>
              </a:ext>
            </a:extLst>
          </p:cNvPr>
          <p:cNvSpPr txBox="1"/>
          <p:nvPr/>
        </p:nvSpPr>
        <p:spPr>
          <a:xfrm>
            <a:off x="1368646" y="1719434"/>
            <a:ext cx="3995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Manual approvals take hours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FC9432-DE2B-935E-412A-29E42134F4FE}"/>
              </a:ext>
            </a:extLst>
          </p:cNvPr>
          <p:cNvSpPr/>
          <p:nvPr/>
        </p:nvSpPr>
        <p:spPr>
          <a:xfrm>
            <a:off x="708600" y="5122606"/>
            <a:ext cx="10863290" cy="875071"/>
          </a:xfrm>
          <a:prstGeom prst="roundRect">
            <a:avLst/>
          </a:prstGeom>
          <a:gradFill>
            <a:gsLst>
              <a:gs pos="0">
                <a:srgbClr val="4284F3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B9D929-71CC-8929-E883-F1F4D848BBC2}"/>
              </a:ext>
            </a:extLst>
          </p:cNvPr>
          <p:cNvSpPr txBox="1"/>
          <p:nvPr/>
        </p:nvSpPr>
        <p:spPr>
          <a:xfrm>
            <a:off x="1417219" y="5329308"/>
            <a:ext cx="9898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chemeClr val="bg1"/>
                </a:solidFill>
              </a:rPr>
              <a:t>Zero-Touch IAM Security automates the entire workflow with AI agents</a:t>
            </a:r>
          </a:p>
        </p:txBody>
      </p:sp>
    </p:spTree>
    <p:extLst>
      <p:ext uri="{BB962C8B-B14F-4D97-AF65-F5344CB8AC3E}">
        <p14:creationId xmlns:p14="http://schemas.microsoft.com/office/powerpoint/2010/main" val="183931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71F1-9CA0-8027-9706-76FE523037F7}"/>
              </a:ext>
            </a:extLst>
          </p:cNvPr>
          <p:cNvSpPr txBox="1">
            <a:spLocks/>
          </p:cNvSpPr>
          <p:nvPr/>
        </p:nvSpPr>
        <p:spPr>
          <a:xfrm>
            <a:off x="307258" y="552954"/>
            <a:ext cx="10515600" cy="676756"/>
          </a:xfrm>
          <a:prstGeom prst="rect">
            <a:avLst/>
          </a:prstGeom>
        </p:spPr>
        <p:txBody>
          <a:bodyPr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Multi-Agent Architecture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F485DD9-2C3A-192F-EF5C-A0DB52F00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738"/>
            <a:ext cx="12192000" cy="1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3AA6D341-8F42-E05E-77A5-4955DCA8E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6" r="10" b="13870"/>
          <a:stretch>
            <a:fillRect/>
          </a:stretch>
        </p:blipFill>
        <p:spPr>
          <a:xfrm>
            <a:off x="744912" y="809298"/>
            <a:ext cx="10900549" cy="595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95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A7B74-ECBF-CE6D-2239-F8FF91A28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FA1-7BBB-6254-792F-29EE8F46B83F}"/>
              </a:ext>
            </a:extLst>
          </p:cNvPr>
          <p:cNvSpPr txBox="1">
            <a:spLocks/>
          </p:cNvSpPr>
          <p:nvPr/>
        </p:nvSpPr>
        <p:spPr>
          <a:xfrm>
            <a:off x="307258" y="552954"/>
            <a:ext cx="10515600" cy="676756"/>
          </a:xfrm>
          <a:prstGeom prst="rect">
            <a:avLst/>
          </a:prstGeom>
        </p:spPr>
        <p:txBody>
          <a:bodyPr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Happy Path Sequence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42F5AAC-AAA7-9C03-5E67-623B82741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738"/>
            <a:ext cx="12192000" cy="1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F9D12934-B983-2B3B-4F40-4C89C6D57997}"/>
              </a:ext>
            </a:extLst>
          </p:cNvPr>
          <p:cNvSpPr/>
          <p:nvPr/>
        </p:nvSpPr>
        <p:spPr>
          <a:xfrm>
            <a:off x="1709928" y="1751334"/>
            <a:ext cx="36576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1</a:t>
            </a:r>
            <a:endParaRPr lang="en-US" sz="1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12E0AAC-ECE3-41F9-F64A-AFB60E28DBBF}"/>
              </a:ext>
            </a:extLst>
          </p:cNvPr>
          <p:cNvSpPr/>
          <p:nvPr/>
        </p:nvSpPr>
        <p:spPr>
          <a:xfrm>
            <a:off x="2258568" y="1751334"/>
            <a:ext cx="27432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Request Initiated</a:t>
            </a:r>
            <a:endParaRPr lang="en-US" sz="1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0BC5FEE-420F-D5BB-08A8-426FA64E1EA0}"/>
              </a:ext>
            </a:extLst>
          </p:cNvPr>
          <p:cNvSpPr/>
          <p:nvPr/>
        </p:nvSpPr>
        <p:spPr>
          <a:xfrm>
            <a:off x="5093208" y="1751334"/>
            <a:ext cx="36576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Developer requests Editor role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DC56263-EA13-7E77-959D-12C43F31AAE9}"/>
              </a:ext>
            </a:extLst>
          </p:cNvPr>
          <p:cNvSpPr/>
          <p:nvPr/>
        </p:nvSpPr>
        <p:spPr>
          <a:xfrm>
            <a:off x="9025128" y="1751334"/>
            <a:ext cx="9144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/>
              <a:t>0s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B9C69CE-D66C-F839-A87D-4E1487372385}"/>
              </a:ext>
            </a:extLst>
          </p:cNvPr>
          <p:cNvSpPr/>
          <p:nvPr/>
        </p:nvSpPr>
        <p:spPr>
          <a:xfrm>
            <a:off x="1709928" y="2162814"/>
            <a:ext cx="36576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2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A2D4A60-6FD6-0876-0198-5B99623A8276}"/>
              </a:ext>
            </a:extLst>
          </p:cNvPr>
          <p:cNvSpPr/>
          <p:nvPr/>
        </p:nvSpPr>
        <p:spPr>
          <a:xfrm>
            <a:off x="2258568" y="2162814"/>
            <a:ext cx="27432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Approver Lookup</a:t>
            </a:r>
            <a:endParaRPr lang="en-US" sz="1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9018351-B1C9-A651-F57E-25BD70531ABA}"/>
              </a:ext>
            </a:extLst>
          </p:cNvPr>
          <p:cNvSpPr/>
          <p:nvPr/>
        </p:nvSpPr>
        <p:spPr>
          <a:xfrm>
            <a:off x="5093208" y="2162814"/>
            <a:ext cx="36576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Query Firestore → alice@example.com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EB8DC8C-8FF4-105C-C2FE-812758182A17}"/>
              </a:ext>
            </a:extLst>
          </p:cNvPr>
          <p:cNvSpPr/>
          <p:nvPr/>
        </p:nvSpPr>
        <p:spPr>
          <a:xfrm>
            <a:off x="9025128" y="2162814"/>
            <a:ext cx="9144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/>
              <a:t>1s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45554A1-9DE8-B656-D252-6F9BEBD98BE6}"/>
              </a:ext>
            </a:extLst>
          </p:cNvPr>
          <p:cNvSpPr/>
          <p:nvPr/>
        </p:nvSpPr>
        <p:spPr>
          <a:xfrm>
            <a:off x="1709928" y="2574294"/>
            <a:ext cx="36576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3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205F4E5-A6C7-F88C-A6EA-02D8677B8242}"/>
              </a:ext>
            </a:extLst>
          </p:cNvPr>
          <p:cNvSpPr/>
          <p:nvPr/>
        </p:nvSpPr>
        <p:spPr>
          <a:xfrm>
            <a:off x="2258568" y="2574294"/>
            <a:ext cx="27432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Policy Retrieval</a:t>
            </a:r>
            <a:endParaRPr lang="en-US" sz="14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F3D3CAA-2E65-8417-9CBE-59BD07BAC69E}"/>
              </a:ext>
            </a:extLst>
          </p:cNvPr>
          <p:cNvSpPr/>
          <p:nvPr/>
        </p:nvSpPr>
        <p:spPr>
          <a:xfrm>
            <a:off x="5093208" y="2574294"/>
            <a:ext cx="36576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RAG → PROD-ACCESS-POLICY-v2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C78A4D7-D2E3-E3F7-F92E-DAB1128CC7C3}"/>
              </a:ext>
            </a:extLst>
          </p:cNvPr>
          <p:cNvSpPr/>
          <p:nvPr/>
        </p:nvSpPr>
        <p:spPr>
          <a:xfrm>
            <a:off x="9025128" y="2574294"/>
            <a:ext cx="9144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/>
              <a:t>2s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124FBAB-F786-A04C-F6CB-4723CDFA9E09}"/>
              </a:ext>
            </a:extLst>
          </p:cNvPr>
          <p:cNvSpPr/>
          <p:nvPr/>
        </p:nvSpPr>
        <p:spPr>
          <a:xfrm>
            <a:off x="1709928" y="2985774"/>
            <a:ext cx="36576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4</a:t>
            </a:r>
            <a:endParaRPr lang="en-US" sz="14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7DBBCFB7-DDCB-74D5-2357-68391B18DD4A}"/>
              </a:ext>
            </a:extLst>
          </p:cNvPr>
          <p:cNvSpPr/>
          <p:nvPr/>
        </p:nvSpPr>
        <p:spPr>
          <a:xfrm>
            <a:off x="2258568" y="2985774"/>
            <a:ext cx="27432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Compliance Check</a:t>
            </a:r>
            <a:endParaRPr lang="en-US" sz="14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FD26680-FCAF-F6C2-83F0-6C32AC981104}"/>
              </a:ext>
            </a:extLst>
          </p:cNvPr>
          <p:cNvSpPr/>
          <p:nvPr/>
        </p:nvSpPr>
        <p:spPr>
          <a:xfrm>
            <a:off x="5093208" y="2985774"/>
            <a:ext cx="36576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Business hours ✓ (10 AM Wed)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9C72922-D002-A7DE-CB9E-B3AED31C3210}"/>
              </a:ext>
            </a:extLst>
          </p:cNvPr>
          <p:cNvSpPr/>
          <p:nvPr/>
        </p:nvSpPr>
        <p:spPr>
          <a:xfrm>
            <a:off x="9025128" y="2985774"/>
            <a:ext cx="9144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/>
              <a:t>3s</a:t>
            </a: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4065C102-0FF6-9A64-A7E7-B04B0A7AAF85}"/>
              </a:ext>
            </a:extLst>
          </p:cNvPr>
          <p:cNvSpPr/>
          <p:nvPr/>
        </p:nvSpPr>
        <p:spPr>
          <a:xfrm>
            <a:off x="1709928" y="3397254"/>
            <a:ext cx="36576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5</a:t>
            </a:r>
            <a:endParaRPr lang="en-US" sz="14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9B523BA9-DD9A-4547-464D-487A144DD368}"/>
              </a:ext>
            </a:extLst>
          </p:cNvPr>
          <p:cNvSpPr/>
          <p:nvPr/>
        </p:nvSpPr>
        <p:spPr>
          <a:xfrm>
            <a:off x="2258568" y="3397254"/>
            <a:ext cx="27432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Email Sent</a:t>
            </a:r>
            <a:endParaRPr lang="en-US" sz="14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D5C4EC4-1330-DE74-5E8A-59EBA73A93FA}"/>
              </a:ext>
            </a:extLst>
          </p:cNvPr>
          <p:cNvSpPr/>
          <p:nvPr/>
        </p:nvSpPr>
        <p:spPr>
          <a:xfrm>
            <a:off x="5093208" y="3397254"/>
            <a:ext cx="36576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Gmail API → Approve/Deny buttons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1E14F646-C80A-7A6F-0420-907907239181}"/>
              </a:ext>
            </a:extLst>
          </p:cNvPr>
          <p:cNvSpPr/>
          <p:nvPr/>
        </p:nvSpPr>
        <p:spPr>
          <a:xfrm>
            <a:off x="9025128" y="3397254"/>
            <a:ext cx="9144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/>
              <a:t>4s</a:t>
            </a: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0413F497-35AF-0221-BEA5-3A6DEBE032FF}"/>
              </a:ext>
            </a:extLst>
          </p:cNvPr>
          <p:cNvSpPr/>
          <p:nvPr/>
        </p:nvSpPr>
        <p:spPr>
          <a:xfrm>
            <a:off x="1709928" y="3808734"/>
            <a:ext cx="36576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6</a:t>
            </a:r>
            <a:endParaRPr lang="en-US" sz="14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27EF21D-AEA3-6C11-FE49-05B442ED8B32}"/>
              </a:ext>
            </a:extLst>
          </p:cNvPr>
          <p:cNvSpPr/>
          <p:nvPr/>
        </p:nvSpPr>
        <p:spPr>
          <a:xfrm>
            <a:off x="2258568" y="3808734"/>
            <a:ext cx="27432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Approval Received</a:t>
            </a:r>
            <a:endParaRPr lang="en-US" sz="14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27D3BF8-39D7-D386-FE03-50C672265532}"/>
              </a:ext>
            </a:extLst>
          </p:cNvPr>
          <p:cNvSpPr/>
          <p:nvPr/>
        </p:nvSpPr>
        <p:spPr>
          <a:xfrm>
            <a:off x="5093208" y="3808734"/>
            <a:ext cx="36576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JWT validated → Pub/Sub trigger</a:t>
            </a: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B329114-D104-41A2-30BD-1517D7F41383}"/>
              </a:ext>
            </a:extLst>
          </p:cNvPr>
          <p:cNvSpPr/>
          <p:nvPr/>
        </p:nvSpPr>
        <p:spPr>
          <a:xfrm>
            <a:off x="9025128" y="3808734"/>
            <a:ext cx="9144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/>
              <a:t>8s</a:t>
            </a: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EE79933B-7213-BA9F-518F-F505D88E1F18}"/>
              </a:ext>
            </a:extLst>
          </p:cNvPr>
          <p:cNvSpPr/>
          <p:nvPr/>
        </p:nvSpPr>
        <p:spPr>
          <a:xfrm>
            <a:off x="1709928" y="4220214"/>
            <a:ext cx="36576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7</a:t>
            </a:r>
            <a:endParaRPr lang="en-US" sz="14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E6CAFED4-E6F0-5D5B-1CC7-E2C159EE75B2}"/>
              </a:ext>
            </a:extLst>
          </p:cNvPr>
          <p:cNvSpPr/>
          <p:nvPr/>
        </p:nvSpPr>
        <p:spPr>
          <a:xfrm>
            <a:off x="2258568" y="4220214"/>
            <a:ext cx="27432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NLU Classification</a:t>
            </a:r>
            <a:endParaRPr lang="en-US" sz="14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532F22B7-1E4B-532C-C15C-F84430E00C82}"/>
              </a:ext>
            </a:extLst>
          </p:cNvPr>
          <p:cNvSpPr/>
          <p:nvPr/>
        </p:nvSpPr>
        <p:spPr>
          <a:xfrm>
            <a:off x="5093208" y="4220214"/>
            <a:ext cx="36576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Gemini 2.5 → APPROVED</a:t>
            </a: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6174A5E5-567D-0A0A-CB28-367074317056}"/>
              </a:ext>
            </a:extLst>
          </p:cNvPr>
          <p:cNvSpPr/>
          <p:nvPr/>
        </p:nvSpPr>
        <p:spPr>
          <a:xfrm>
            <a:off x="9025128" y="4220214"/>
            <a:ext cx="9144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/>
              <a:t>10s</a:t>
            </a: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826BE6C5-DA80-8C7E-094C-2B11E460A802}"/>
              </a:ext>
            </a:extLst>
          </p:cNvPr>
          <p:cNvSpPr/>
          <p:nvPr/>
        </p:nvSpPr>
        <p:spPr>
          <a:xfrm>
            <a:off x="1709928" y="4631694"/>
            <a:ext cx="36576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8</a:t>
            </a:r>
            <a:endParaRPr lang="en-US" sz="14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00763D48-6482-5EDA-1813-AC0A7764C864}"/>
              </a:ext>
            </a:extLst>
          </p:cNvPr>
          <p:cNvSpPr/>
          <p:nvPr/>
        </p:nvSpPr>
        <p:spPr>
          <a:xfrm>
            <a:off x="2258568" y="4631694"/>
            <a:ext cx="27432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A2A Execution</a:t>
            </a:r>
            <a:endParaRPr lang="en-US" sz="140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04A093C5-CD4F-64BC-9C3E-30788B3B7526}"/>
              </a:ext>
            </a:extLst>
          </p:cNvPr>
          <p:cNvSpPr/>
          <p:nvPr/>
        </p:nvSpPr>
        <p:spPr>
          <a:xfrm>
            <a:off x="5093208" y="4631694"/>
            <a:ext cx="36576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Isolated provisioning service</a:t>
            </a: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DED7A6BE-CF3F-3652-3257-8AE4FA6E474F}"/>
              </a:ext>
            </a:extLst>
          </p:cNvPr>
          <p:cNvSpPr/>
          <p:nvPr/>
        </p:nvSpPr>
        <p:spPr>
          <a:xfrm>
            <a:off x="9025128" y="4631694"/>
            <a:ext cx="9144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/>
              <a:t>12s</a:t>
            </a: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39129C13-AF53-FE61-4CAC-57005305F221}"/>
              </a:ext>
            </a:extLst>
          </p:cNvPr>
          <p:cNvSpPr/>
          <p:nvPr/>
        </p:nvSpPr>
        <p:spPr>
          <a:xfrm>
            <a:off x="1709928" y="5043174"/>
            <a:ext cx="36576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9</a:t>
            </a:r>
            <a:endParaRPr lang="en-US" sz="14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31734DA7-B391-B0DE-AC24-859D3A535F6A}"/>
              </a:ext>
            </a:extLst>
          </p:cNvPr>
          <p:cNvSpPr/>
          <p:nvPr/>
        </p:nvSpPr>
        <p:spPr>
          <a:xfrm>
            <a:off x="2258568" y="5043174"/>
            <a:ext cx="27432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Policy Applied</a:t>
            </a:r>
            <a:endParaRPr lang="en-US" sz="140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09009DD0-7655-AEA1-497D-D1B742D0E670}"/>
              </a:ext>
            </a:extLst>
          </p:cNvPr>
          <p:cNvSpPr/>
          <p:nvPr/>
        </p:nvSpPr>
        <p:spPr>
          <a:xfrm>
            <a:off x="5093208" y="5043174"/>
            <a:ext cx="36576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1-hour conditional binding</a:t>
            </a: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93799135-51F4-D1A8-F2AA-86F34DBB1446}"/>
              </a:ext>
            </a:extLst>
          </p:cNvPr>
          <p:cNvSpPr/>
          <p:nvPr/>
        </p:nvSpPr>
        <p:spPr>
          <a:xfrm>
            <a:off x="9025128" y="5043174"/>
            <a:ext cx="914400" cy="320040"/>
          </a:xfrm>
          <a:prstGeom prst="roundRect">
            <a:avLst/>
          </a:prstGeom>
          <a:solidFill>
            <a:srgbClr val="4284F3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/>
              <a:t>15s</a:t>
            </a:r>
          </a:p>
        </p:txBody>
      </p:sp>
    </p:spTree>
    <p:extLst>
      <p:ext uri="{BB962C8B-B14F-4D97-AF65-F5344CB8AC3E}">
        <p14:creationId xmlns:p14="http://schemas.microsoft.com/office/powerpoint/2010/main" val="290900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" dur="2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0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6" dur="20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10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1" dur="2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10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6" dur="2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10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1" dur="20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10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6" dur="20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100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1" dur="20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100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6" dur="20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100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3" grpId="0" animBg="1"/>
      <p:bldP spid="17" grpId="0" animBg="1"/>
      <p:bldP spid="21" grpId="0" animBg="1"/>
      <p:bldP spid="25" grpId="0" animBg="1"/>
      <p:bldP spid="29" grpId="0" animBg="1"/>
      <p:bldP spid="33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7383-A4D2-09F5-48CC-8E05FA59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2BF517-D102-DEC2-FAE4-7F47D906F460}"/>
              </a:ext>
            </a:extLst>
          </p:cNvPr>
          <p:cNvSpPr/>
          <p:nvPr/>
        </p:nvSpPr>
        <p:spPr>
          <a:xfrm>
            <a:off x="3647767" y="4222957"/>
            <a:ext cx="2873613" cy="1513488"/>
          </a:xfrm>
          <a:prstGeom prst="roundRect">
            <a:avLst/>
          </a:prstGeom>
          <a:solidFill>
            <a:srgbClr val="FBFDFF"/>
          </a:solidFill>
          <a:ln>
            <a:noFill/>
          </a:ln>
          <a:effectLst>
            <a:outerShdw dist="76200" dir="8100000" algn="tr" rotWithShape="0">
              <a:srgbClr val="E94335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79FB66-6B65-780A-1AAE-796E873B70B2}"/>
              </a:ext>
            </a:extLst>
          </p:cNvPr>
          <p:cNvSpPr/>
          <p:nvPr/>
        </p:nvSpPr>
        <p:spPr>
          <a:xfrm>
            <a:off x="477330" y="4222957"/>
            <a:ext cx="2873613" cy="1513488"/>
          </a:xfrm>
          <a:prstGeom prst="roundRect">
            <a:avLst/>
          </a:prstGeom>
          <a:solidFill>
            <a:srgbClr val="FBFDFF"/>
          </a:solidFill>
          <a:ln>
            <a:noFill/>
          </a:ln>
          <a:effectLst>
            <a:outerShdw dist="76200" dir="8100000" algn="tr" rotWithShape="0">
              <a:srgbClr val="E94335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E5B3F3-EFCE-C905-C50C-977A5E571BC7}"/>
              </a:ext>
            </a:extLst>
          </p:cNvPr>
          <p:cNvSpPr/>
          <p:nvPr/>
        </p:nvSpPr>
        <p:spPr>
          <a:xfrm>
            <a:off x="474106" y="1915512"/>
            <a:ext cx="2873613" cy="1513488"/>
          </a:xfrm>
          <a:prstGeom prst="roundRect">
            <a:avLst/>
          </a:prstGeom>
          <a:solidFill>
            <a:srgbClr val="FBFDFF"/>
          </a:solidFill>
          <a:ln>
            <a:noFill/>
          </a:ln>
          <a:effectLst>
            <a:outerShdw dist="76200" dir="8100000" algn="tr" rotWithShape="0">
              <a:srgbClr val="E94335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95BEE-4E7D-3F10-D28C-B2BCFD00C9BF}"/>
              </a:ext>
            </a:extLst>
          </p:cNvPr>
          <p:cNvSpPr txBox="1">
            <a:spLocks/>
          </p:cNvSpPr>
          <p:nvPr/>
        </p:nvSpPr>
        <p:spPr>
          <a:xfrm>
            <a:off x="307258" y="552954"/>
            <a:ext cx="10515600" cy="676756"/>
          </a:xfrm>
          <a:prstGeom prst="rect">
            <a:avLst/>
          </a:prstGeom>
        </p:spPr>
        <p:txBody>
          <a:bodyPr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Zero-Trust IAM - Technical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D664A16-ACCF-710E-F099-F08137E6C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738"/>
            <a:ext cx="12192000" cy="1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0F69D6-69AC-59C5-D129-4B23EFFF0E50}"/>
              </a:ext>
            </a:extLst>
          </p:cNvPr>
          <p:cNvSpPr/>
          <p:nvPr/>
        </p:nvSpPr>
        <p:spPr>
          <a:xfrm>
            <a:off x="3647767" y="1915512"/>
            <a:ext cx="2873613" cy="1513488"/>
          </a:xfrm>
          <a:prstGeom prst="roundRect">
            <a:avLst/>
          </a:prstGeom>
          <a:solidFill>
            <a:srgbClr val="FBFDFF"/>
          </a:solidFill>
          <a:ln>
            <a:noFill/>
          </a:ln>
          <a:effectLst>
            <a:outerShdw dist="76200" dir="8100000" algn="tr" rotWithShape="0">
              <a:srgbClr val="E94335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5F5EF-6044-7C0C-CECA-3F102E8DCBB3}"/>
              </a:ext>
            </a:extLst>
          </p:cNvPr>
          <p:cNvSpPr txBox="1"/>
          <p:nvPr/>
        </p:nvSpPr>
        <p:spPr>
          <a:xfrm>
            <a:off x="634771" y="2487589"/>
            <a:ext cx="183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A2A Isolation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A67DB-DA70-78E8-B59E-69FCC82DFAA8}"/>
              </a:ext>
            </a:extLst>
          </p:cNvPr>
          <p:cNvSpPr txBox="1"/>
          <p:nvPr/>
        </p:nvSpPr>
        <p:spPr>
          <a:xfrm>
            <a:off x="634771" y="4795034"/>
            <a:ext cx="23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JWT-Signed Links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F8388-487A-7BA6-E8BE-0532C1649471}"/>
              </a:ext>
            </a:extLst>
          </p:cNvPr>
          <p:cNvSpPr txBox="1"/>
          <p:nvPr/>
        </p:nvSpPr>
        <p:spPr>
          <a:xfrm>
            <a:off x="3840143" y="2487589"/>
            <a:ext cx="2856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Service Account Auth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A33DB3-5795-B327-B9AB-FCE19E60BA7C}"/>
              </a:ext>
            </a:extLst>
          </p:cNvPr>
          <p:cNvSpPr txBox="1"/>
          <p:nvPr/>
        </p:nvSpPr>
        <p:spPr>
          <a:xfrm>
            <a:off x="3840143" y="4795034"/>
            <a:ext cx="230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Temporal Guards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D66EA3-1126-BC4B-7604-E07A395BA851}"/>
              </a:ext>
            </a:extLst>
          </p:cNvPr>
          <p:cNvSpPr txBox="1"/>
          <p:nvPr/>
        </p:nvSpPr>
        <p:spPr>
          <a:xfrm>
            <a:off x="634771" y="2782667"/>
            <a:ext cx="2712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Privileged service beyond protocol boundary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0A97B-93E4-2079-5121-4AFCED38B9CA}"/>
              </a:ext>
            </a:extLst>
          </p:cNvPr>
          <p:cNvSpPr txBox="1"/>
          <p:nvPr/>
        </p:nvSpPr>
        <p:spPr>
          <a:xfrm>
            <a:off x="3840143" y="2782667"/>
            <a:ext cx="2712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ID token validation middleware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36B699-A7E0-B07B-241E-ECA8AF579F52}"/>
              </a:ext>
            </a:extLst>
          </p:cNvPr>
          <p:cNvSpPr txBox="1"/>
          <p:nvPr/>
        </p:nvSpPr>
        <p:spPr>
          <a:xfrm>
            <a:off x="634771" y="5090112"/>
            <a:ext cx="2712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Cryptographically secure approval tokens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6F7E7C-7E1F-EAEB-A86C-ADBEBF1F3EE0}"/>
              </a:ext>
            </a:extLst>
          </p:cNvPr>
          <p:cNvSpPr txBox="1"/>
          <p:nvPr/>
        </p:nvSpPr>
        <p:spPr>
          <a:xfrm>
            <a:off x="3840143" y="5090111"/>
            <a:ext cx="2712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Active enforcement of time restrictions</a:t>
            </a:r>
          </a:p>
        </p:txBody>
      </p:sp>
      <p:pic>
        <p:nvPicPr>
          <p:cNvPr id="20" name="Graphic 19" descr="Clock with solid fill">
            <a:extLst>
              <a:ext uri="{FF2B5EF4-FFF2-40B4-BE49-F238E27FC236}">
                <a16:creationId xmlns:a16="http://schemas.microsoft.com/office/drawing/2014/main" id="{D50B31BC-5E4B-4D2F-AB69-446B02172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3929" y="4337834"/>
            <a:ext cx="509598" cy="509598"/>
          </a:xfrm>
          <a:prstGeom prst="rect">
            <a:avLst/>
          </a:prstGeom>
        </p:spPr>
      </p:pic>
      <p:pic>
        <p:nvPicPr>
          <p:cNvPr id="22" name="Graphic 21" descr="Badge Tick with solid fill">
            <a:extLst>
              <a:ext uri="{FF2B5EF4-FFF2-40B4-BE49-F238E27FC236}">
                <a16:creationId xmlns:a16="http://schemas.microsoft.com/office/drawing/2014/main" id="{40C918C7-1270-838D-5F16-50C4EBFAA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771" y="4285915"/>
            <a:ext cx="613435" cy="613435"/>
          </a:xfrm>
          <a:prstGeom prst="rect">
            <a:avLst/>
          </a:prstGeom>
        </p:spPr>
      </p:pic>
      <p:pic>
        <p:nvPicPr>
          <p:cNvPr id="24" name="Graphic 23" descr="Lock with solid fill">
            <a:extLst>
              <a:ext uri="{FF2B5EF4-FFF2-40B4-BE49-F238E27FC236}">
                <a16:creationId xmlns:a16="http://schemas.microsoft.com/office/drawing/2014/main" id="{1EB743CA-A555-6F11-B654-B784DB3659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060" y="1998106"/>
            <a:ext cx="530001" cy="530001"/>
          </a:xfrm>
          <a:prstGeom prst="rect">
            <a:avLst/>
          </a:prstGeom>
        </p:spPr>
      </p:pic>
      <p:pic>
        <p:nvPicPr>
          <p:cNvPr id="26" name="Graphic 25" descr="Shield with solid fill">
            <a:extLst>
              <a:ext uri="{FF2B5EF4-FFF2-40B4-BE49-F238E27FC236}">
                <a16:creationId xmlns:a16="http://schemas.microsoft.com/office/drawing/2014/main" id="{E6751FEF-9361-1A41-34BE-F900B35B7C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40143" y="2039429"/>
            <a:ext cx="457200" cy="457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03698DE-E577-D383-5692-99E09E7BFC99}"/>
              </a:ext>
            </a:extLst>
          </p:cNvPr>
          <p:cNvSpPr txBox="1"/>
          <p:nvPr/>
        </p:nvSpPr>
        <p:spPr>
          <a:xfrm>
            <a:off x="7573306" y="1404469"/>
            <a:ext cx="3679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Cloud Run – Scalable agent hosting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BA5AD1-F238-4A6E-0AC4-089EB470316F}"/>
              </a:ext>
            </a:extLst>
          </p:cNvPr>
          <p:cNvSpPr txBox="1"/>
          <p:nvPr/>
        </p:nvSpPr>
        <p:spPr>
          <a:xfrm>
            <a:off x="7528588" y="2008773"/>
            <a:ext cx="398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Vertex AI Search – RAG Policy Retrieval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1AB51A-CB34-56DD-4710-A6A677890D4F}"/>
              </a:ext>
            </a:extLst>
          </p:cNvPr>
          <p:cNvSpPr txBox="1"/>
          <p:nvPr/>
        </p:nvSpPr>
        <p:spPr>
          <a:xfrm>
            <a:off x="7573398" y="3202581"/>
            <a:ext cx="356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Pub/Sub – Async event processing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4FC024-A737-D884-E36F-006B9326E4A5}"/>
              </a:ext>
            </a:extLst>
          </p:cNvPr>
          <p:cNvSpPr txBox="1"/>
          <p:nvPr/>
        </p:nvSpPr>
        <p:spPr>
          <a:xfrm>
            <a:off x="7574118" y="3791523"/>
            <a:ext cx="3898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Gmail API – Approval Communication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CB0727-3D6F-C859-3B6F-090ADEA56611}"/>
              </a:ext>
            </a:extLst>
          </p:cNvPr>
          <p:cNvSpPr txBox="1"/>
          <p:nvPr/>
        </p:nvSpPr>
        <p:spPr>
          <a:xfrm>
            <a:off x="7611209" y="4350819"/>
            <a:ext cx="3580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Firestore</a:t>
            </a:r>
            <a:r>
              <a:rPr lang="en-AU" dirty="0"/>
              <a:t> – Session &amp; audit storage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FCE387-A41E-35C6-9F8D-AC717B97A893}"/>
              </a:ext>
            </a:extLst>
          </p:cNvPr>
          <p:cNvSpPr txBox="1"/>
          <p:nvPr/>
        </p:nvSpPr>
        <p:spPr>
          <a:xfrm>
            <a:off x="7634430" y="4825570"/>
            <a:ext cx="3306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Gemini 2.5 – NLU Classification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0529FF-FBC6-E1C9-F94C-9BBB304EEFD8}"/>
              </a:ext>
            </a:extLst>
          </p:cNvPr>
          <p:cNvSpPr txBox="1"/>
          <p:nvPr/>
        </p:nvSpPr>
        <p:spPr>
          <a:xfrm>
            <a:off x="7634430" y="5350153"/>
            <a:ext cx="303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Cloud IAM – Policy Execution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36FA2A-55BF-BAD8-0597-BE7F3D90BB63}"/>
              </a:ext>
            </a:extLst>
          </p:cNvPr>
          <p:cNvSpPr txBox="1"/>
          <p:nvPr/>
        </p:nvSpPr>
        <p:spPr>
          <a:xfrm>
            <a:off x="7528588" y="2611209"/>
            <a:ext cx="4186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Cloud Storage – Compliance Policy docs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E8C1A4-24E4-275B-758F-8A572F11C862}"/>
              </a:ext>
            </a:extLst>
          </p:cNvPr>
          <p:cNvSpPr txBox="1"/>
          <p:nvPr/>
        </p:nvSpPr>
        <p:spPr>
          <a:xfrm>
            <a:off x="7634430" y="5949435"/>
            <a:ext cx="2735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Secret Manager – JWT Key</a:t>
            </a:r>
          </a:p>
        </p:txBody>
      </p:sp>
      <p:pic>
        <p:nvPicPr>
          <p:cNvPr id="1026" name="Picture 2" descr="GitHub - GoogleCloudPlatform/cloud-run-samples: Samples for Cloud Run">
            <a:extLst>
              <a:ext uri="{FF2B5EF4-FFF2-40B4-BE49-F238E27FC236}">
                <a16:creationId xmlns:a16="http://schemas.microsoft.com/office/drawing/2014/main" id="{95C34235-B3E3-E732-AF09-A6EBE6888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853" y="1397875"/>
            <a:ext cx="423131" cy="423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oogle Cloud Vertex AI: What, Why, and How">
            <a:extLst>
              <a:ext uri="{FF2B5EF4-FFF2-40B4-BE49-F238E27FC236}">
                <a16:creationId xmlns:a16="http://schemas.microsoft.com/office/drawing/2014/main" id="{73EC29D0-686A-616B-B8D3-96A7C0DE5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853" y="2065971"/>
            <a:ext cx="414275" cy="48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 Cloud Storage: A Guide to Scalable Data Storage - AVANGELS">
            <a:extLst>
              <a:ext uri="{FF2B5EF4-FFF2-40B4-BE49-F238E27FC236}">
                <a16:creationId xmlns:a16="http://schemas.microsoft.com/office/drawing/2014/main" id="{2503ABE0-06D1-EAF2-7450-92C61CE04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959" y="2615979"/>
            <a:ext cx="752061" cy="39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sing Cloud Pub/Sub from Kotlin. Why Kotlin on the server side? | by Megan  Potter | Google Cloud - Community | Medium">
            <a:extLst>
              <a:ext uri="{FF2B5EF4-FFF2-40B4-BE49-F238E27FC236}">
                <a16:creationId xmlns:a16="http://schemas.microsoft.com/office/drawing/2014/main" id="{B163D71F-80C3-3824-C9DC-B7A9096E9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294" y="3110892"/>
            <a:ext cx="696083" cy="55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mail API Integrations - Pipedream">
            <a:extLst>
              <a:ext uri="{FF2B5EF4-FFF2-40B4-BE49-F238E27FC236}">
                <a16:creationId xmlns:a16="http://schemas.microsoft.com/office/drawing/2014/main" id="{5B155CE8-63EA-B66E-C41D-7EE5D2829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559" y="3761803"/>
            <a:ext cx="369332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irestore | Google Cloud">
            <a:extLst>
              <a:ext uri="{FF2B5EF4-FFF2-40B4-BE49-F238E27FC236}">
                <a16:creationId xmlns:a16="http://schemas.microsoft.com/office/drawing/2014/main" id="{775CEE2C-77F1-48C8-82D1-0A019A885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1726" y="4268958"/>
            <a:ext cx="499483" cy="49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3F979AFA-2FA7-6A42-F6C1-C95A98720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988" y="4745915"/>
            <a:ext cx="552710" cy="55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Google Cloud Identity and Access Management (IAM) | Google Cloud Platform">
            <a:extLst>
              <a:ext uri="{FF2B5EF4-FFF2-40B4-BE49-F238E27FC236}">
                <a16:creationId xmlns:a16="http://schemas.microsoft.com/office/drawing/2014/main" id="{416B5AE8-BB32-EEF3-F552-A7C565E8C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092" y="5352340"/>
            <a:ext cx="320042" cy="38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ow to Store Sensitive Data on GCP: Secret Manager | by Juan Guillermo  Gómez Torres | Google Developer Experts | Medium">
            <a:extLst>
              <a:ext uri="{FF2B5EF4-FFF2-40B4-BE49-F238E27FC236}">
                <a16:creationId xmlns:a16="http://schemas.microsoft.com/office/drawing/2014/main" id="{BA5F58E9-9E1F-C060-BDC6-CA7A60DDD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112" y="5887747"/>
            <a:ext cx="462174" cy="46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93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07AC4-DC59-CD2D-22C6-F6F1815F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D37A-BC5E-2AE1-F5FE-48EE523455DD}"/>
              </a:ext>
            </a:extLst>
          </p:cNvPr>
          <p:cNvSpPr txBox="1">
            <a:spLocks/>
          </p:cNvSpPr>
          <p:nvPr/>
        </p:nvSpPr>
        <p:spPr>
          <a:xfrm>
            <a:off x="307258" y="552954"/>
            <a:ext cx="10515600" cy="676756"/>
          </a:xfrm>
          <a:prstGeom prst="rect">
            <a:avLst/>
          </a:prstGeom>
        </p:spPr>
        <p:txBody>
          <a:bodyPr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Business Impact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5061E60-D85B-75B6-24B6-0E2E1CABA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738"/>
            <a:ext cx="12192000" cy="1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3DE1BA-4E99-0CAA-851B-0C44DA632FB0}"/>
              </a:ext>
            </a:extLst>
          </p:cNvPr>
          <p:cNvSpPr/>
          <p:nvPr/>
        </p:nvSpPr>
        <p:spPr>
          <a:xfrm>
            <a:off x="411389" y="1826020"/>
            <a:ext cx="5393064" cy="1852448"/>
          </a:xfrm>
          <a:prstGeom prst="round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101092-DF13-9675-B1BC-73B9FC65ECA5}"/>
              </a:ext>
            </a:extLst>
          </p:cNvPr>
          <p:cNvSpPr/>
          <p:nvPr/>
        </p:nvSpPr>
        <p:spPr>
          <a:xfrm>
            <a:off x="6387547" y="1826020"/>
            <a:ext cx="5393064" cy="1852448"/>
          </a:xfrm>
          <a:prstGeom prst="round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74A851-10AC-D1C2-776C-F265D29D096A}"/>
              </a:ext>
            </a:extLst>
          </p:cNvPr>
          <p:cNvSpPr/>
          <p:nvPr/>
        </p:nvSpPr>
        <p:spPr>
          <a:xfrm>
            <a:off x="411389" y="4193475"/>
            <a:ext cx="5393064" cy="1852448"/>
          </a:xfrm>
          <a:prstGeom prst="round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C307AC-EA4E-1419-8E0B-81646F16E7F3}"/>
              </a:ext>
            </a:extLst>
          </p:cNvPr>
          <p:cNvSpPr/>
          <p:nvPr/>
        </p:nvSpPr>
        <p:spPr>
          <a:xfrm>
            <a:off x="6387547" y="4193475"/>
            <a:ext cx="5393064" cy="1852448"/>
          </a:xfrm>
          <a:prstGeom prst="round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08A97-7C73-0943-9F11-3F796A456ED5}"/>
              </a:ext>
            </a:extLst>
          </p:cNvPr>
          <p:cNvSpPr txBox="1"/>
          <p:nvPr/>
        </p:nvSpPr>
        <p:spPr>
          <a:xfrm>
            <a:off x="2198858" y="2107899"/>
            <a:ext cx="18181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b="1" dirty="0"/>
              <a:t>15 sec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5AA7D-B694-EDDD-7BEF-CDF6541DB110}"/>
              </a:ext>
            </a:extLst>
          </p:cNvPr>
          <p:cNvSpPr txBox="1"/>
          <p:nvPr/>
        </p:nvSpPr>
        <p:spPr>
          <a:xfrm>
            <a:off x="8175016" y="2107899"/>
            <a:ext cx="2022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b="1" dirty="0"/>
              <a:t>9 steps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347E4D-F5D4-3B37-0ADB-C7B92900F996}"/>
              </a:ext>
            </a:extLst>
          </p:cNvPr>
          <p:cNvSpPr txBox="1"/>
          <p:nvPr/>
        </p:nvSpPr>
        <p:spPr>
          <a:xfrm>
            <a:off x="2326297" y="4350258"/>
            <a:ext cx="15632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b="1" dirty="0"/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BBE61A-A16F-3109-9CDB-4A319041F809}"/>
              </a:ext>
            </a:extLst>
          </p:cNvPr>
          <p:cNvSpPr txBox="1"/>
          <p:nvPr/>
        </p:nvSpPr>
        <p:spPr>
          <a:xfrm>
            <a:off x="8312361" y="4350258"/>
            <a:ext cx="17475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b="1" dirty="0"/>
              <a:t>9 GCP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4B26F-5377-6025-DD02-DA03785983DF}"/>
              </a:ext>
            </a:extLst>
          </p:cNvPr>
          <p:cNvSpPr txBox="1"/>
          <p:nvPr/>
        </p:nvSpPr>
        <p:spPr>
          <a:xfrm>
            <a:off x="2091777" y="2752244"/>
            <a:ext cx="203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Provisioning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9D86F9-9960-1ACA-6486-4749D18A64FE}"/>
              </a:ext>
            </a:extLst>
          </p:cNvPr>
          <p:cNvSpPr txBox="1"/>
          <p:nvPr/>
        </p:nvSpPr>
        <p:spPr>
          <a:xfrm>
            <a:off x="8067935" y="2765511"/>
            <a:ext cx="239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Automated 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C70335-390F-3769-06EC-0440069CBDE0}"/>
              </a:ext>
            </a:extLst>
          </p:cNvPr>
          <p:cNvSpPr txBox="1"/>
          <p:nvPr/>
        </p:nvSpPr>
        <p:spPr>
          <a:xfrm>
            <a:off x="2222774" y="5028813"/>
            <a:ext cx="1770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Audit Coverage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16A146-6C0E-2CBC-4AD3-A001CBE8BFE7}"/>
              </a:ext>
            </a:extLst>
          </p:cNvPr>
          <p:cNvSpPr txBox="1"/>
          <p:nvPr/>
        </p:nvSpPr>
        <p:spPr>
          <a:xfrm>
            <a:off x="8081112" y="5028813"/>
            <a:ext cx="221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Services Integrated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74AEE8-A9D6-1294-2B2C-4EB33193C9C0}"/>
              </a:ext>
            </a:extLst>
          </p:cNvPr>
          <p:cNvSpPr txBox="1"/>
          <p:nvPr/>
        </p:nvSpPr>
        <p:spPr>
          <a:xfrm>
            <a:off x="2104761" y="3059668"/>
            <a:ext cx="200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Vs hours manually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FB3783-EFCA-BB0B-1FE5-1FB82679F3CD}"/>
              </a:ext>
            </a:extLst>
          </p:cNvPr>
          <p:cNvSpPr txBox="1"/>
          <p:nvPr/>
        </p:nvSpPr>
        <p:spPr>
          <a:xfrm>
            <a:off x="7925524" y="3059668"/>
            <a:ext cx="2683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End-to-end orchestration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1BC14E-77E0-870C-ABFA-E3D661169F0A}"/>
              </a:ext>
            </a:extLst>
          </p:cNvPr>
          <p:cNvSpPr txBox="1"/>
          <p:nvPr/>
        </p:nvSpPr>
        <p:spPr>
          <a:xfrm>
            <a:off x="2255635" y="5398145"/>
            <a:ext cx="1704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Immutable trail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72E700-B1D4-AF4A-3E83-8C9AB24D6E93}"/>
              </a:ext>
            </a:extLst>
          </p:cNvPr>
          <p:cNvSpPr txBox="1"/>
          <p:nvPr/>
        </p:nvSpPr>
        <p:spPr>
          <a:xfrm>
            <a:off x="8228716" y="5352702"/>
            <a:ext cx="1914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Production-grade</a:t>
            </a:r>
          </a:p>
        </p:txBody>
      </p:sp>
    </p:spTree>
    <p:extLst>
      <p:ext uri="{BB962C8B-B14F-4D97-AF65-F5344CB8AC3E}">
        <p14:creationId xmlns:p14="http://schemas.microsoft.com/office/powerpoint/2010/main" val="22913059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257</Words>
  <Application>Microsoft Office PowerPoint</Application>
  <PresentationFormat>Widescreen</PresentationFormat>
  <Paragraphs>81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Accenture | Australia &amp; New Zealand    </vt:lpstr>
      <vt:lpstr>The IAM Provisioning Problem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Narmada Nannaka</dc:creator>
  <cp:lastModifiedBy>Narmada Nannaka</cp:lastModifiedBy>
  <cp:revision>4</cp:revision>
  <dcterms:created xsi:type="dcterms:W3CDTF">2025-11-27T12:00:16Z</dcterms:created>
  <dcterms:modified xsi:type="dcterms:W3CDTF">2025-11-28T01:33:23Z</dcterms:modified>
</cp:coreProperties>
</file>